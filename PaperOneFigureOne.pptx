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50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B27BC-1F41-734C-BA96-651CA88F8172}" type="datetimeFigureOut">
              <a:rPr lang="en-US" smtClean="0"/>
              <a:t>6/10/24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16636B-9C30-CD4B-BA40-918C5A8AC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39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this in the appendix, show a simplified slide just with the blue diagram</a:t>
            </a:r>
          </a:p>
          <a:p>
            <a:r>
              <a:rPr lang="en-US" dirty="0"/>
              <a:t>Show a separate slide with simplified equations showing why the params </a:t>
            </a:r>
            <a:r>
              <a:rPr lang="en-US" dirty="0" err="1"/>
              <a:t>mattter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778F4-A3A8-FB4A-B1C0-80802F4B0F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34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3A5E-01A3-0A4D-E9E6-487DD696B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A0206-FC63-304A-A8E0-6693BD4B1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9A340-88A4-1BD3-E355-389C3B44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64D55-500F-3E4F-A514-635ECDA7D368}" type="datetimeFigureOut">
              <a:rPr lang="en-US" smtClean="0"/>
              <a:t>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4BF39-3AE2-1A41-B192-1E69328C6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11C2C-815C-0151-C5D3-685DBBED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8D17-49D7-6047-9E8C-4D725D261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5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D539-D23F-AD53-EE0E-C95E7B72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BD2A8-F4BA-64C1-B4C2-B2F81E074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65875-67C5-8817-3FED-6011A1899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64D55-500F-3E4F-A514-635ECDA7D368}" type="datetimeFigureOut">
              <a:rPr lang="en-US" smtClean="0"/>
              <a:t>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81DB3-9274-90BD-D371-0A6DA94DD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31694-D07C-615C-1A49-552A4819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8D17-49D7-6047-9E8C-4D725D261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0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9FA6C-2B8E-C46F-5D85-F80CCEF6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88CC6-C63B-6065-578D-FBA1605A1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7B9C7-FA06-DA1F-B1BA-31F736E56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64D55-500F-3E4F-A514-635ECDA7D368}" type="datetimeFigureOut">
              <a:rPr lang="en-US" smtClean="0"/>
              <a:t>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E85B7-5ECF-3EF3-111A-E8461792F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2A30B-FF2E-6181-ADB7-FD75EB28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8D17-49D7-6047-9E8C-4D725D261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28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D7C6-0D94-078D-C988-83493BEE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D7B21-9A6D-7D88-D0C6-C8F0F729F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BFFFE-FB19-FB2F-A528-51B987D61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647C5-54FE-DD1D-B0C5-B04631DD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64D55-500F-3E4F-A514-635ECDA7D368}" type="datetimeFigureOut">
              <a:rPr lang="en-US" smtClean="0"/>
              <a:t>6/10/24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70585-E31D-51FB-BC57-456EEA56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AF299-19E6-0CB9-70F4-6BCCA1B9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8D17-49D7-6047-9E8C-4D725D261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41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29C4E-60E3-4D7E-15FF-E157EF1A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C8598-4D1E-65ED-511F-2F11B257B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EB1C9-8279-21A8-D46E-E7E38CC4C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99890-4BA2-B7F5-BACE-6AB0C40192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0D290-5158-5641-2527-84B81EC818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E3CFE-D8FE-4458-CE19-6C6EBAFD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64D55-500F-3E4F-A514-635ECDA7D368}" type="datetimeFigureOut">
              <a:rPr lang="en-US" smtClean="0"/>
              <a:t>6/10/24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03B417-E008-A931-1AA3-C8E75F61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35EB04-2632-9594-D9BA-23311BE0F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8D17-49D7-6047-9E8C-4D725D261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1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D9B0-CD04-5008-0C10-53E395782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CFF7C1-7913-28F3-57B9-C2F440501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64D55-500F-3E4F-A514-635ECDA7D368}" type="datetimeFigureOut">
              <a:rPr lang="en-US" smtClean="0"/>
              <a:t>6/10/24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1E58D-8196-10B8-7749-6C695129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ADA6A-4AA3-86C7-DFAC-D190CF8E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8D17-49D7-6047-9E8C-4D725D261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0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D9DF73-1FA7-C777-B670-F520D351E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64D55-500F-3E4F-A514-635ECDA7D368}" type="datetimeFigureOut">
              <a:rPr lang="en-US" smtClean="0"/>
              <a:t>6/10/24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35342-719D-0DE8-3EA6-502751D1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C4761-5105-7B64-3983-54E664F8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8D17-49D7-6047-9E8C-4D725D261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98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0BC8-DE9D-7859-1024-334F7136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D8BEB-58D5-4909-D04F-F3255B8C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03A30-2FC5-7907-4E5D-7E57658B4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91AE5-D505-BA3F-2545-EB366098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64D55-500F-3E4F-A514-635ECDA7D368}" type="datetimeFigureOut">
              <a:rPr lang="en-US" smtClean="0"/>
              <a:t>6/10/24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9708D-0AC3-0EBB-8678-5A6464D05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E-713C-5705-C0BB-CD488A51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8D17-49D7-6047-9E8C-4D725D261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90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F42D-2017-D0C0-CC77-4DC40577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B6F43E-4C4B-EE38-ED2F-AFC8CC495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F3FDE-7DDB-00FC-D8E1-F40064AF8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EBCB1-EC6C-A222-24F6-2952D931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64D55-500F-3E4F-A514-635ECDA7D368}" type="datetimeFigureOut">
              <a:rPr lang="en-US" smtClean="0"/>
              <a:t>6/10/24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BDD2A-6829-CA84-E6E4-5B6D71C73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EEA8B-8B51-9470-42CC-23921FFB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8D17-49D7-6047-9E8C-4D725D261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52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9883-F8AE-92B0-51DB-E8CC8FC1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78F0E-3B1F-1171-351C-6D46076D5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79ED9-415F-4B6B-6F5A-8E267A38B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64D55-500F-3E4F-A514-635ECDA7D368}" type="datetimeFigureOut">
              <a:rPr lang="en-US" smtClean="0"/>
              <a:t>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D0AE4-42A7-2618-739E-44CEEF5B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AF79C-6603-CDBA-6B04-C4429532C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8D17-49D7-6047-9E8C-4D725D261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41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DECFB-E7D4-1ECF-A4C1-6E1DD90D3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4DB14-DB37-FDB0-59AC-24DAB9B28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DC5A2-4C85-B16A-E269-0E2D29E7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64D55-500F-3E4F-A514-635ECDA7D368}" type="datetimeFigureOut">
              <a:rPr lang="en-US" smtClean="0"/>
              <a:t>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4685E-E686-BF48-C7AC-A2EA3A304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8AD6A-5F17-876D-36CF-3AE5DB6E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28D17-49D7-6047-9E8C-4D725D261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55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D0CC67-E015-71D6-35E2-D9A70303D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7096F-AA2B-7407-D040-39F0B8C74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9B091-8148-E0E3-9E16-70FF8656F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64D55-500F-3E4F-A514-635ECDA7D368}" type="datetimeFigureOut">
              <a:rPr lang="en-US" smtClean="0"/>
              <a:t>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325D1-37AA-2902-D09D-5BB47C9A1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AE593-7AC0-9343-8C56-845EFF367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28D17-49D7-6047-9E8C-4D725D261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3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BDF6-898D-4C3C-F3E4-DEF080B355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Paper 1 Model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A1EC0-BA19-E29B-B35E-3265954953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6/10/2024</a:t>
            </a:r>
          </a:p>
        </p:txBody>
      </p:sp>
    </p:spTree>
    <p:extLst>
      <p:ext uri="{BB962C8B-B14F-4D97-AF65-F5344CB8AC3E}">
        <p14:creationId xmlns:p14="http://schemas.microsoft.com/office/powerpoint/2010/main" val="208083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D7CA4C8-2B3F-3444-B6ED-32493DBC78CC}"/>
              </a:ext>
            </a:extLst>
          </p:cNvPr>
          <p:cNvSpPr/>
          <p:nvPr/>
        </p:nvSpPr>
        <p:spPr>
          <a:xfrm>
            <a:off x="171095" y="1340898"/>
            <a:ext cx="1277218" cy="6287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Susceptible </a:t>
            </a:r>
          </a:p>
          <a:p>
            <a:pPr algn="ctr"/>
            <a:r>
              <a:rPr lang="en-US" sz="1200" b="1" dirty="0"/>
              <a:t>Lab Worker (LW)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2692011-D6FE-9748-BCC1-BA2F7F335FF4}"/>
              </a:ext>
            </a:extLst>
          </p:cNvPr>
          <p:cNvSpPr/>
          <p:nvPr/>
        </p:nvSpPr>
        <p:spPr>
          <a:xfrm>
            <a:off x="171095" y="5247836"/>
            <a:ext cx="1372715" cy="6287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Susceptible General Population (GP)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EEAD571-BF46-794B-B37B-B0FDB9A425C4}"/>
              </a:ext>
            </a:extLst>
          </p:cNvPr>
          <p:cNvSpPr/>
          <p:nvPr/>
        </p:nvSpPr>
        <p:spPr>
          <a:xfrm>
            <a:off x="1960139" y="1340899"/>
            <a:ext cx="1227903" cy="62879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Exposed, Not Infectious LW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7EB4E68-5753-C643-9832-DE12F909BF5D}"/>
              </a:ext>
            </a:extLst>
          </p:cNvPr>
          <p:cNvSpPr/>
          <p:nvPr/>
        </p:nvSpPr>
        <p:spPr>
          <a:xfrm>
            <a:off x="4107047" y="1350605"/>
            <a:ext cx="1716031" cy="60653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Infectious, Pre-Symptomatic LW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E22D98-8C5C-7647-B0DA-22CDC378645F}"/>
              </a:ext>
            </a:extLst>
          </p:cNvPr>
          <p:cNvSpPr/>
          <p:nvPr/>
        </p:nvSpPr>
        <p:spPr>
          <a:xfrm>
            <a:off x="7074756" y="1349676"/>
            <a:ext cx="1434321" cy="60174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Infectious, Symptomatic, LW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ACD5D87-C4EE-5C45-8A4B-9EFB38E8675F}"/>
              </a:ext>
            </a:extLst>
          </p:cNvPr>
          <p:cNvSpPr/>
          <p:nvPr/>
        </p:nvSpPr>
        <p:spPr>
          <a:xfrm>
            <a:off x="1984988" y="5297074"/>
            <a:ext cx="1187971" cy="53461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Exposed, Not Infectious GP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55C1997-55EC-194A-A5F9-530C753B752B}"/>
              </a:ext>
            </a:extLst>
          </p:cNvPr>
          <p:cNvSpPr/>
          <p:nvPr/>
        </p:nvSpPr>
        <p:spPr>
          <a:xfrm>
            <a:off x="4095536" y="5310232"/>
            <a:ext cx="1788531" cy="50829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Infectious, Pre-Symptomatic GP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3C50560-7B0C-D141-B629-3D17D5D5AD84}"/>
              </a:ext>
            </a:extLst>
          </p:cNvPr>
          <p:cNvSpPr/>
          <p:nvPr/>
        </p:nvSpPr>
        <p:spPr>
          <a:xfrm>
            <a:off x="7051141" y="5214404"/>
            <a:ext cx="1482631" cy="72053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Infectious, Symptomatic, GP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F98F1F-512A-E34B-A5E7-192A7D738935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448313" y="1655295"/>
            <a:ext cx="5118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FD3AAA-DC72-BF47-93A4-EA853E5502D2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1543810" y="5562233"/>
            <a:ext cx="441178" cy="2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9C74E33-2BA6-DA42-A1B6-396D78D27D9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188042" y="1653874"/>
            <a:ext cx="919005" cy="1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B5F259-2670-6E49-8B85-862535C52BBE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3172959" y="5564381"/>
            <a:ext cx="92257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4F7414-86F5-AE43-9076-A306392DB2B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823078" y="1650550"/>
            <a:ext cx="1251678" cy="3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7C48EC7-0E0E-4F47-81FD-7D50A78624F4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884067" y="5564382"/>
            <a:ext cx="1167074" cy="10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276611C-1065-D94D-A613-D0B123E4143D}"/>
              </a:ext>
            </a:extLst>
          </p:cNvPr>
          <p:cNvCxnSpPr>
            <a:cxnSpLocks/>
            <a:stCxn id="8" idx="3"/>
            <a:endCxn id="212" idx="1"/>
          </p:cNvCxnSpPr>
          <p:nvPr/>
        </p:nvCxnSpPr>
        <p:spPr>
          <a:xfrm>
            <a:off x="8509077" y="1650550"/>
            <a:ext cx="2501186" cy="2235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C3CBAF2-EDE7-A24F-898C-2EC801EB803E}"/>
                  </a:ext>
                </a:extLst>
              </p:cNvPr>
              <p:cNvSpPr txBox="1"/>
              <p:nvPr/>
            </p:nvSpPr>
            <p:spPr>
              <a:xfrm>
                <a:off x="1380326" y="1371474"/>
                <a:ext cx="62616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C3CBAF2-EDE7-A24F-898C-2EC801EB8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326" y="1371474"/>
                <a:ext cx="626163" cy="276999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BBBCA42-9FE9-BB47-AE4A-1B3C1CC09169}"/>
                  </a:ext>
                </a:extLst>
              </p:cNvPr>
              <p:cNvSpPr txBox="1"/>
              <p:nvPr/>
            </p:nvSpPr>
            <p:spPr>
              <a:xfrm>
                <a:off x="1448313" y="5285233"/>
                <a:ext cx="67346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BBBCA42-9FE9-BB47-AE4A-1B3C1CC09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313" y="5285233"/>
                <a:ext cx="673460" cy="276999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AE82928-5CEE-2047-8350-C927540141EC}"/>
                  </a:ext>
                </a:extLst>
              </p:cNvPr>
              <p:cNvSpPr txBox="1"/>
              <p:nvPr/>
            </p:nvSpPr>
            <p:spPr>
              <a:xfrm>
                <a:off x="5627919" y="5318779"/>
                <a:ext cx="81585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AE82928-5CEE-2047-8350-C92754014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919" y="5318779"/>
                <a:ext cx="815859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50693ED-4855-974A-B274-39C797C29B5E}"/>
                  </a:ext>
                </a:extLst>
              </p:cNvPr>
              <p:cNvSpPr/>
              <p:nvPr/>
            </p:nvSpPr>
            <p:spPr>
              <a:xfrm flipH="1">
                <a:off x="5852107" y="1341882"/>
                <a:ext cx="331983" cy="3660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50693ED-4855-974A-B274-39C797C29B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52107" y="1341882"/>
                <a:ext cx="331983" cy="3660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E7A6DCB-7FE3-D04E-BDBA-30096085E0B9}"/>
                  </a:ext>
                </a:extLst>
              </p:cNvPr>
              <p:cNvSpPr txBox="1"/>
              <p:nvPr/>
            </p:nvSpPr>
            <p:spPr>
              <a:xfrm>
                <a:off x="3515234" y="1376056"/>
                <a:ext cx="62715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E7A6DCB-7FE3-D04E-BDBA-30096085E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34" y="1376056"/>
                <a:ext cx="627154" cy="276999"/>
              </a:xfrm>
              <a:prstGeom prst="rect">
                <a:avLst/>
              </a:prstGeom>
              <a:blipFill>
                <a:blip r:embed="rId7"/>
                <a:stretch>
                  <a:fillRect l="-196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6F55B46-056E-8444-9FC6-A456F16E709D}"/>
                  </a:ext>
                </a:extLst>
              </p:cNvPr>
              <p:cNvSpPr txBox="1"/>
              <p:nvPr/>
            </p:nvSpPr>
            <p:spPr>
              <a:xfrm>
                <a:off x="10184429" y="3151835"/>
                <a:ext cx="9025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6F55B46-056E-8444-9FC6-A456F16E7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4429" y="3151835"/>
                <a:ext cx="902576" cy="276999"/>
              </a:xfrm>
              <a:prstGeom prst="rect">
                <a:avLst/>
              </a:prstGeom>
              <a:blipFill>
                <a:blip r:embed="rId8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478F27C-D099-7146-A8A3-8E53BBC91B7D}"/>
                  </a:ext>
                </a:extLst>
              </p:cNvPr>
              <p:cNvSpPr txBox="1"/>
              <p:nvPr/>
            </p:nvSpPr>
            <p:spPr>
              <a:xfrm>
                <a:off x="3518134" y="5240399"/>
                <a:ext cx="62715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478F27C-D099-7146-A8A3-8E53BBC91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134" y="5240399"/>
                <a:ext cx="627154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EC37DEC-D7A6-524E-B739-439CA5CF9B28}"/>
              </a:ext>
            </a:extLst>
          </p:cNvPr>
          <p:cNvCxnSpPr>
            <a:cxnSpLocks/>
            <a:stCxn id="12" idx="3"/>
            <a:endCxn id="212" idx="1"/>
          </p:cNvCxnSpPr>
          <p:nvPr/>
        </p:nvCxnSpPr>
        <p:spPr>
          <a:xfrm flipV="1">
            <a:off x="8533772" y="3886200"/>
            <a:ext cx="2476491" cy="1688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6219FDA-4239-A940-A134-3195E8479DEA}"/>
              </a:ext>
            </a:extLst>
          </p:cNvPr>
          <p:cNvCxnSpPr>
            <a:cxnSpLocks/>
            <a:stCxn id="8" idx="2"/>
            <a:endCxn id="152" idx="0"/>
          </p:cNvCxnSpPr>
          <p:nvPr/>
        </p:nvCxnSpPr>
        <p:spPr>
          <a:xfrm>
            <a:off x="7791917" y="1951423"/>
            <a:ext cx="1" cy="1653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C16D52C-D322-6F4A-99C6-7BAECBFBF071}"/>
              </a:ext>
            </a:extLst>
          </p:cNvPr>
          <p:cNvCxnSpPr>
            <a:cxnSpLocks/>
            <a:stCxn id="12" idx="0"/>
            <a:endCxn id="152" idx="2"/>
          </p:cNvCxnSpPr>
          <p:nvPr/>
        </p:nvCxnSpPr>
        <p:spPr>
          <a:xfrm flipH="1" flipV="1">
            <a:off x="7791918" y="4178154"/>
            <a:ext cx="539" cy="1036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AFDBEAE-BA4D-0443-88CB-D09C5C8E98F7}"/>
                  </a:ext>
                </a:extLst>
              </p:cNvPr>
              <p:cNvSpPr txBox="1"/>
              <p:nvPr/>
            </p:nvSpPr>
            <p:spPr>
              <a:xfrm>
                <a:off x="1691895" y="2512963"/>
                <a:ext cx="1800915" cy="486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𝒊𝒔𝒐𝒍𝒂𝒕𝒊𝒐𝒏𝒅𝒆𝒍𝒂𝒚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AFDBEAE-BA4D-0443-88CB-D09C5C8E9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95" y="2512963"/>
                <a:ext cx="1800915" cy="486800"/>
              </a:xfrm>
              <a:prstGeom prst="rect">
                <a:avLst/>
              </a:prstGeom>
              <a:blipFill>
                <a:blip r:embed="rId10"/>
                <a:stretch>
                  <a:fillRect l="-2797" t="-2500" r="-3497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46B50E22-A2D2-BB44-8655-10418C9C5568}"/>
                  </a:ext>
                </a:extLst>
              </p:cNvPr>
              <p:cNvSpPr txBox="1"/>
              <p:nvPr/>
            </p:nvSpPr>
            <p:spPr>
              <a:xfrm>
                <a:off x="1504729" y="4376816"/>
                <a:ext cx="1842072" cy="7637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𝒊𝒔𝒐𝒍𝒂𝒕𝒊𝒐𝒏𝒅𝒆𝒍𝒂𝒚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  <a:p>
                <a:endParaRPr lang="en-US" b="1" dirty="0"/>
              </a:p>
            </p:txBody>
          </p:sp>
        </mc:Choice>
        <mc:Fallback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46B50E22-A2D2-BB44-8655-10418C9C5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729" y="4376816"/>
                <a:ext cx="1842072" cy="763799"/>
              </a:xfrm>
              <a:prstGeom prst="rect">
                <a:avLst/>
              </a:prstGeom>
              <a:blipFill>
                <a:blip r:embed="rId11"/>
                <a:stretch>
                  <a:fillRect l="-1370" t="-3279" r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2C342F80-8FD1-D043-BDAD-8E81E2B2A012}"/>
                  </a:ext>
                </a:extLst>
              </p:cNvPr>
              <p:cNvSpPr txBox="1"/>
              <p:nvPr/>
            </p:nvSpPr>
            <p:spPr>
              <a:xfrm>
                <a:off x="3761129" y="2504438"/>
                <a:ext cx="2407865" cy="486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𝝂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𝒊𝒔𝒐𝒍𝒂𝒕𝒊𝒐𝒏𝒅𝒆𝒍𝒂𝒚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2C342F80-8FD1-D043-BDAD-8E81E2B2A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129" y="2504438"/>
                <a:ext cx="2407865" cy="486800"/>
              </a:xfrm>
              <a:prstGeom prst="rect">
                <a:avLst/>
              </a:prstGeom>
              <a:blipFill>
                <a:blip r:embed="rId12"/>
                <a:stretch>
                  <a:fillRect t="-5128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65ACBCE-3BC1-EC41-86C4-981C46E911E0}"/>
              </a:ext>
            </a:extLst>
          </p:cNvPr>
          <p:cNvCxnSpPr>
            <a:cxnSpLocks/>
            <a:stCxn id="6" idx="2"/>
            <a:endCxn id="143" idx="0"/>
          </p:cNvCxnSpPr>
          <p:nvPr/>
        </p:nvCxnSpPr>
        <p:spPr>
          <a:xfrm flipH="1">
            <a:off x="2574090" y="1969692"/>
            <a:ext cx="1" cy="1632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713AC0D-0912-C14D-A8AE-852B699FE22D}"/>
              </a:ext>
            </a:extLst>
          </p:cNvPr>
          <p:cNvCxnSpPr>
            <a:cxnSpLocks/>
            <a:stCxn id="7" idx="2"/>
            <a:endCxn id="151" idx="0"/>
          </p:cNvCxnSpPr>
          <p:nvPr/>
        </p:nvCxnSpPr>
        <p:spPr>
          <a:xfrm>
            <a:off x="4965063" y="1957143"/>
            <a:ext cx="19058" cy="1645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918613C-EA85-8D43-89F5-F5FA10F3A25D}"/>
              </a:ext>
            </a:extLst>
          </p:cNvPr>
          <p:cNvCxnSpPr>
            <a:cxnSpLocks/>
            <a:stCxn id="10" idx="0"/>
            <a:endCxn id="143" idx="2"/>
          </p:cNvCxnSpPr>
          <p:nvPr/>
        </p:nvCxnSpPr>
        <p:spPr>
          <a:xfrm flipH="1" flipV="1">
            <a:off x="2574090" y="4174795"/>
            <a:ext cx="4884" cy="1122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AB72716-D55E-664B-B12F-0121961EBB7D}"/>
              </a:ext>
            </a:extLst>
          </p:cNvPr>
          <p:cNvCxnSpPr>
            <a:cxnSpLocks/>
            <a:stCxn id="11" idx="0"/>
            <a:endCxn id="151" idx="2"/>
          </p:cNvCxnSpPr>
          <p:nvPr/>
        </p:nvCxnSpPr>
        <p:spPr>
          <a:xfrm flipH="1" flipV="1">
            <a:off x="4984121" y="4176037"/>
            <a:ext cx="5681" cy="1134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C26CCC8-0E4A-9741-A7D3-0E268FEBD362}"/>
                  </a:ext>
                </a:extLst>
              </p:cNvPr>
              <p:cNvSpPr txBox="1"/>
              <p:nvPr/>
            </p:nvSpPr>
            <p:spPr>
              <a:xfrm>
                <a:off x="6626110" y="4404929"/>
                <a:ext cx="2510715" cy="486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/(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 +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𝒊𝒔𝒐𝒍𝒂𝒕𝒊𝒐𝒏𝒅𝒆𝒍𝒂𝒚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C26CCC8-0E4A-9741-A7D3-0E268FEBD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110" y="4404929"/>
                <a:ext cx="2510715" cy="486800"/>
              </a:xfrm>
              <a:prstGeom prst="rect">
                <a:avLst/>
              </a:prstGeom>
              <a:blipFill>
                <a:blip r:embed="rId13"/>
                <a:stretch>
                  <a:fillRect l="-2010" r="-2513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2CC21F1-1FC6-C640-9DAF-8C1684ABDBC2}"/>
                  </a:ext>
                </a:extLst>
              </p:cNvPr>
              <p:cNvSpPr txBox="1"/>
              <p:nvPr/>
            </p:nvSpPr>
            <p:spPr>
              <a:xfrm>
                <a:off x="3514488" y="3621220"/>
                <a:ext cx="260902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2CC21F1-1FC6-C640-9DAF-8C1684ABD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488" y="3621220"/>
                <a:ext cx="2609023" cy="276999"/>
              </a:xfrm>
              <a:prstGeom prst="rect">
                <a:avLst/>
              </a:prstGeom>
              <a:blipFill>
                <a:blip r:embed="rId14"/>
                <a:stretch>
                  <a:fillRect l="-48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CB47C52D-8528-444A-8FAE-1DB21AF298A4}"/>
              </a:ext>
            </a:extLst>
          </p:cNvPr>
          <p:cNvSpPr/>
          <p:nvPr/>
        </p:nvSpPr>
        <p:spPr>
          <a:xfrm>
            <a:off x="1720185" y="3601745"/>
            <a:ext cx="1707809" cy="5730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Exposed, Not Infectious, Isolated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2A66B230-1EE0-A24D-8333-D45599B5E409}"/>
              </a:ext>
            </a:extLst>
          </p:cNvPr>
          <p:cNvSpPr/>
          <p:nvPr/>
        </p:nvSpPr>
        <p:spPr>
          <a:xfrm>
            <a:off x="4107047" y="3602987"/>
            <a:ext cx="1754147" cy="5730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Infectious, Pre-symptomatic, Isolated</a:t>
            </a: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7C861575-592E-AE49-8915-F18678E3779C}"/>
              </a:ext>
            </a:extLst>
          </p:cNvPr>
          <p:cNvSpPr/>
          <p:nvPr/>
        </p:nvSpPr>
        <p:spPr>
          <a:xfrm>
            <a:off x="6727746" y="3605104"/>
            <a:ext cx="2128343" cy="5730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Symptomatic or Asymptomatic, Isolated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F9D61ED5-5B44-4043-AD17-CBF6290997A5}"/>
              </a:ext>
            </a:extLst>
          </p:cNvPr>
          <p:cNvCxnSpPr>
            <a:cxnSpLocks/>
            <a:stCxn id="143" idx="3"/>
            <a:endCxn id="151" idx="1"/>
          </p:cNvCxnSpPr>
          <p:nvPr/>
        </p:nvCxnSpPr>
        <p:spPr>
          <a:xfrm>
            <a:off x="3427994" y="3888270"/>
            <a:ext cx="679053" cy="1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18584BA-1A36-814D-98F2-52D5B00525EC}"/>
              </a:ext>
            </a:extLst>
          </p:cNvPr>
          <p:cNvCxnSpPr>
            <a:cxnSpLocks/>
            <a:stCxn id="151" idx="3"/>
            <a:endCxn id="152" idx="1"/>
          </p:cNvCxnSpPr>
          <p:nvPr/>
        </p:nvCxnSpPr>
        <p:spPr>
          <a:xfrm>
            <a:off x="5861194" y="3889512"/>
            <a:ext cx="866552" cy="2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EA53BF06-D64A-0D4B-852B-6401DF8F6959}"/>
                  </a:ext>
                </a:extLst>
              </p:cNvPr>
              <p:cNvSpPr/>
              <p:nvPr/>
            </p:nvSpPr>
            <p:spPr>
              <a:xfrm flipH="1">
                <a:off x="5806056" y="3583236"/>
                <a:ext cx="42998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EA53BF06-D64A-0D4B-852B-6401DF8F69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06056" y="3583236"/>
                <a:ext cx="42998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Rounded Rectangle 211">
            <a:extLst>
              <a:ext uri="{FF2B5EF4-FFF2-40B4-BE49-F238E27FC236}">
                <a16:creationId xmlns:a16="http://schemas.microsoft.com/office/drawing/2014/main" id="{38E0513D-6ADC-F94B-A62E-CA14EA15B8E1}"/>
              </a:ext>
            </a:extLst>
          </p:cNvPr>
          <p:cNvSpPr/>
          <p:nvPr/>
        </p:nvSpPr>
        <p:spPr>
          <a:xfrm>
            <a:off x="11010263" y="3429000"/>
            <a:ext cx="1014808" cy="9144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Removed</a:t>
            </a:r>
          </a:p>
        </p:txBody>
      </p: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A9F45F42-B6F4-6949-A311-6E6F426EE181}"/>
              </a:ext>
            </a:extLst>
          </p:cNvPr>
          <p:cNvCxnSpPr>
            <a:cxnSpLocks/>
            <a:stCxn id="152" idx="3"/>
            <a:endCxn id="212" idx="1"/>
          </p:cNvCxnSpPr>
          <p:nvPr/>
        </p:nvCxnSpPr>
        <p:spPr>
          <a:xfrm flipV="1">
            <a:off x="8856089" y="3886200"/>
            <a:ext cx="2154174" cy="5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4A96F5B6-B6EF-FB4A-AFB3-3AF089289538}"/>
                  </a:ext>
                </a:extLst>
              </p:cNvPr>
              <p:cNvSpPr txBox="1"/>
              <p:nvPr/>
            </p:nvSpPr>
            <p:spPr>
              <a:xfrm>
                <a:off x="10144840" y="3621220"/>
                <a:ext cx="9025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𝑰𝑺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4A96F5B6-B6EF-FB4A-AFB3-3AF089289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4840" y="3621220"/>
                <a:ext cx="902576" cy="276999"/>
              </a:xfrm>
              <a:prstGeom prst="rect">
                <a:avLst/>
              </a:prstGeom>
              <a:blipFill>
                <a:blip r:embed="rId16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76D41BC7-1F0E-214E-B09B-1938472CF606}"/>
                  </a:ext>
                </a:extLst>
              </p:cNvPr>
              <p:cNvSpPr txBox="1"/>
              <p:nvPr/>
            </p:nvSpPr>
            <p:spPr>
              <a:xfrm>
                <a:off x="10121666" y="4184551"/>
                <a:ext cx="9025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76D41BC7-1F0E-214E-B09B-1938472CF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1666" y="4184551"/>
                <a:ext cx="902576" cy="276999"/>
              </a:xfrm>
              <a:prstGeom prst="rect">
                <a:avLst/>
              </a:prstGeom>
              <a:blipFill>
                <a:blip r:embed="rId17"/>
                <a:stretch>
                  <a:fillRect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B22BB4B8-EA56-0922-5A2E-32CF9B1E4704}"/>
              </a:ext>
            </a:extLst>
          </p:cNvPr>
          <p:cNvSpPr/>
          <p:nvPr/>
        </p:nvSpPr>
        <p:spPr>
          <a:xfrm>
            <a:off x="8410409" y="576218"/>
            <a:ext cx="1452833" cy="56605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Infectious, Asymptomatic LW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295C30F6-8CF7-0030-847D-CF08EA695974}"/>
              </a:ext>
            </a:extLst>
          </p:cNvPr>
          <p:cNvSpPr/>
          <p:nvPr/>
        </p:nvSpPr>
        <p:spPr>
          <a:xfrm>
            <a:off x="7978387" y="6259641"/>
            <a:ext cx="2110548" cy="378142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Infectious, Asymptomatic GP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62F5ACF0-E429-D85A-1B48-902DB5266626}"/>
              </a:ext>
            </a:extLst>
          </p:cNvPr>
          <p:cNvCxnSpPr>
            <a:cxnSpLocks/>
            <a:stCxn id="6" idx="0"/>
            <a:endCxn id="176" idx="1"/>
          </p:cNvCxnSpPr>
          <p:nvPr/>
        </p:nvCxnSpPr>
        <p:spPr>
          <a:xfrm flipV="1">
            <a:off x="2574091" y="859248"/>
            <a:ext cx="5836318" cy="481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369DF3CD-D9BE-8614-869D-27E3C8964815}"/>
              </a:ext>
            </a:extLst>
          </p:cNvPr>
          <p:cNvCxnSpPr>
            <a:cxnSpLocks/>
            <a:stCxn id="176" idx="3"/>
            <a:endCxn id="212" idx="0"/>
          </p:cNvCxnSpPr>
          <p:nvPr/>
        </p:nvCxnSpPr>
        <p:spPr>
          <a:xfrm>
            <a:off x="9863242" y="859248"/>
            <a:ext cx="1654425" cy="2569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A961ACA8-7B1B-6DF5-6857-BCFD1A6631E2}"/>
              </a:ext>
            </a:extLst>
          </p:cNvPr>
          <p:cNvCxnSpPr>
            <a:cxnSpLocks/>
            <a:stCxn id="10" idx="2"/>
            <a:endCxn id="181" idx="1"/>
          </p:cNvCxnSpPr>
          <p:nvPr/>
        </p:nvCxnSpPr>
        <p:spPr>
          <a:xfrm>
            <a:off x="2578974" y="5831688"/>
            <a:ext cx="5399413" cy="617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21DBE706-B57A-8DB4-EFC7-63578CE465C9}"/>
              </a:ext>
            </a:extLst>
          </p:cNvPr>
          <p:cNvCxnSpPr>
            <a:cxnSpLocks/>
            <a:stCxn id="181" idx="3"/>
            <a:endCxn id="212" idx="2"/>
          </p:cNvCxnSpPr>
          <p:nvPr/>
        </p:nvCxnSpPr>
        <p:spPr>
          <a:xfrm flipV="1">
            <a:off x="10088935" y="4343400"/>
            <a:ext cx="1428732" cy="2105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29806EE-E2E1-F2E9-3E44-035BE903B74F}"/>
                  </a:ext>
                </a:extLst>
              </p:cNvPr>
              <p:cNvSpPr txBox="1"/>
              <p:nvPr/>
            </p:nvSpPr>
            <p:spPr>
              <a:xfrm>
                <a:off x="6104160" y="773129"/>
                <a:ext cx="62715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𝑰𝑨𝑳</m:t>
                        </m:r>
                      </m:sub>
                    </m:sSub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29806EE-E2E1-F2E9-3E44-035BE903B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160" y="773129"/>
                <a:ext cx="627154" cy="276999"/>
              </a:xfrm>
              <a:prstGeom prst="rect">
                <a:avLst/>
              </a:prstGeom>
              <a:blipFill>
                <a:blip r:embed="rId18"/>
                <a:stretch>
                  <a:fillRect l="-20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6489F39-020E-1F37-2CF2-D1320888E6C3}"/>
                  </a:ext>
                </a:extLst>
              </p:cNvPr>
              <p:cNvSpPr txBox="1"/>
              <p:nvPr/>
            </p:nvSpPr>
            <p:spPr>
              <a:xfrm>
                <a:off x="6179158" y="6001583"/>
                <a:ext cx="62715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𝑰𝑨𝑮</m:t>
                        </m:r>
                      </m:sub>
                    </m:sSub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6489F39-020E-1F37-2CF2-D1320888E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158" y="6001583"/>
                <a:ext cx="627154" cy="276999"/>
              </a:xfrm>
              <a:prstGeom prst="rect">
                <a:avLst/>
              </a:prstGeom>
              <a:blipFill>
                <a:blip r:embed="rId19"/>
                <a:stretch>
                  <a:fillRect l="-196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41B0917-7F53-EC94-AA12-EFFA4591D1C2}"/>
                  </a:ext>
                </a:extLst>
              </p:cNvPr>
              <p:cNvSpPr txBox="1"/>
              <p:nvPr/>
            </p:nvSpPr>
            <p:spPr>
              <a:xfrm>
                <a:off x="10184429" y="1433367"/>
                <a:ext cx="9025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𝑰𝑨𝑳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41B0917-7F53-EC94-AA12-EFFA4591D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4429" y="1433367"/>
                <a:ext cx="902576" cy="276999"/>
              </a:xfrm>
              <a:prstGeom prst="rect">
                <a:avLst/>
              </a:prstGeom>
              <a:blipFill>
                <a:blip r:embed="rId20"/>
                <a:stretch>
                  <a:fillRect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1365E0B-5B40-ECF4-A90E-98AEF8DDD804}"/>
                  </a:ext>
                </a:extLst>
              </p:cNvPr>
              <p:cNvSpPr txBox="1"/>
              <p:nvPr/>
            </p:nvSpPr>
            <p:spPr>
              <a:xfrm>
                <a:off x="10235983" y="5020201"/>
                <a:ext cx="9025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𝑰𝑨𝑮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1365E0B-5B40-ECF4-A90E-98AEF8DDD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983" y="5020201"/>
                <a:ext cx="902576" cy="276999"/>
              </a:xfrm>
              <a:prstGeom prst="rect">
                <a:avLst/>
              </a:prstGeom>
              <a:blipFill>
                <a:blip r:embed="rId21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2B34F9F-D861-E388-26AE-09331B172554}"/>
              </a:ext>
            </a:extLst>
          </p:cNvPr>
          <p:cNvCxnSpPr>
            <a:cxnSpLocks/>
            <a:stCxn id="176" idx="2"/>
          </p:cNvCxnSpPr>
          <p:nvPr/>
        </p:nvCxnSpPr>
        <p:spPr>
          <a:xfrm rot="5400000">
            <a:off x="7705047" y="2169966"/>
            <a:ext cx="2459468" cy="404090"/>
          </a:xfrm>
          <a:prstGeom prst="bentConnector3">
            <a:avLst>
              <a:gd name="adj1" fmla="val 807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0C026AC-C7D9-29D9-E2F6-7C4E6B1F7DB6}"/>
                  </a:ext>
                </a:extLst>
              </p:cNvPr>
              <p:cNvSpPr txBox="1"/>
              <p:nvPr/>
            </p:nvSpPr>
            <p:spPr>
              <a:xfrm>
                <a:off x="8813233" y="1311087"/>
                <a:ext cx="679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0C026AC-C7D9-29D9-E2F6-7C4E6B1F7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233" y="1311087"/>
                <a:ext cx="679910" cy="276999"/>
              </a:xfrm>
              <a:prstGeom prst="rect">
                <a:avLst/>
              </a:prstGeom>
              <a:blipFill>
                <a:blip r:embed="rId22"/>
                <a:stretch>
                  <a:fillRect l="-5556" r="-370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6DECCC7F-D218-5848-236E-68526C5CE86C}"/>
                  </a:ext>
                </a:extLst>
              </p:cNvPr>
              <p:cNvSpPr txBox="1"/>
              <p:nvPr/>
            </p:nvSpPr>
            <p:spPr>
              <a:xfrm>
                <a:off x="6454158" y="2415447"/>
                <a:ext cx="2753350" cy="579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/(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 +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𝒊𝒔𝒐𝒍𝒂𝒕𝒊𝒐𝒏𝒅𝒆𝒍𝒂𝒚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6DECCC7F-D218-5848-236E-68526C5CE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158" y="2415447"/>
                <a:ext cx="2753350" cy="579133"/>
              </a:xfrm>
              <a:prstGeom prst="rect">
                <a:avLst/>
              </a:prstGeom>
              <a:blipFill>
                <a:blip r:embed="rId2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1ADC4926-6B9D-9916-DF33-BA3E8FDD22DE}"/>
                  </a:ext>
                </a:extLst>
              </p:cNvPr>
              <p:cNvSpPr txBox="1"/>
              <p:nvPr/>
            </p:nvSpPr>
            <p:spPr>
              <a:xfrm>
                <a:off x="3447017" y="4343400"/>
                <a:ext cx="2905415" cy="579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𝝂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𝒊𝒔𝒐𝒍𝒂𝒕𝒊𝒐𝒏𝒅𝒆𝒍𝒂𝒚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1ADC4926-6B9D-9916-DF33-BA3E8FDD2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017" y="4343400"/>
                <a:ext cx="2905415" cy="579133"/>
              </a:xfrm>
              <a:prstGeom prst="rect">
                <a:avLst/>
              </a:prstGeom>
              <a:blipFill>
                <a:blip r:embed="rId24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705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190</Words>
  <Application>Microsoft Macintosh PowerPoint</Application>
  <PresentationFormat>Widescreen</PresentationFormat>
  <Paragraphs>42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Paper 1 Model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Cohen, Byron</dc:creator>
  <cp:lastModifiedBy>Cohen, Byron</cp:lastModifiedBy>
  <cp:revision>11</cp:revision>
  <dcterms:created xsi:type="dcterms:W3CDTF">2024-06-11T02:29:33Z</dcterms:created>
  <dcterms:modified xsi:type="dcterms:W3CDTF">2024-06-11T21:57:36Z</dcterms:modified>
</cp:coreProperties>
</file>